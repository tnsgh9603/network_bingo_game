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86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0113" autoAdjust="0"/>
    <p:restoredTop sz="94660"/>
  </p:normalViewPr>
  <p:slideViewPr>
    <p:cSldViewPr>
      <p:cViewPr varScale="1">
        <p:scale>
          <a:sx n="100" d="100"/>
          <a:sy n="100" d="100"/>
        </p:scale>
        <p:origin x="300" y="126"/>
      </p:cViewPr>
      <p:guideLst>
        <p:guide orient="horz" pos="2157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presProps" Target="presProps.xml"  /><Relationship Id="rId7" Type="http://schemas.openxmlformats.org/officeDocument/2006/relationships/viewProps" Target="viewProps.xml"  /><Relationship Id="rId8" Type="http://schemas.openxmlformats.org/officeDocument/2006/relationships/theme" Target="theme/theme1.xml"  /><Relationship Id="rId9" Type="http://schemas.openxmlformats.org/officeDocument/2006/relationships/tableStyles" Target="tableStyles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08CECE-1764-4D8E-B4DB-08F3A1000315}"/>
              </a:ext>
            </a:extLst>
          </p:cNvPr>
          <p:cNvSpPr txBox="1"/>
          <p:nvPr userDrawn="1"/>
        </p:nvSpPr>
        <p:spPr>
          <a:xfrm>
            <a:off x="0" y="-290249"/>
            <a:ext cx="973692" cy="246221"/>
          </a:xfrm>
          <a:prstGeom prst="rect">
            <a:avLst/>
          </a:prstGeom>
          <a:solidFill>
            <a:schemeClr val="tx1"/>
          </a:solidFill>
        </p:spPr>
        <p:txBody>
          <a:bodyPr wrap="none" lIns="144000" tIns="0" rIns="144000" bIns="0" rtlCol="0">
            <a:spAutoFit/>
          </a:bodyPr>
          <a:lstStyle>
            <a:defPPr>
              <a:defRPr lang="en-US"/>
            </a:defPPr>
            <a:lvl1pPr algn="r"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ko-KR" dirty="0"/>
              <a:t>Section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51959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B4A6CCD-3CD7-4966-8133-620853080A68}"/>
              </a:ext>
            </a:extLst>
          </p:cNvPr>
          <p:cNvSpPr txBox="1"/>
          <p:nvPr userDrawn="1"/>
        </p:nvSpPr>
        <p:spPr>
          <a:xfrm>
            <a:off x="0" y="-290249"/>
            <a:ext cx="744463" cy="246221"/>
          </a:xfrm>
          <a:prstGeom prst="rect">
            <a:avLst/>
          </a:prstGeom>
          <a:solidFill>
            <a:schemeClr val="tx1"/>
          </a:solidFill>
        </p:spPr>
        <p:txBody>
          <a:bodyPr wrap="none" lIns="144000" tIns="0" rIns="144000" bIns="0" rtlCol="0">
            <a:spAutoFit/>
          </a:bodyPr>
          <a:lstStyle>
            <a:defPPr>
              <a:defRPr lang="en-US"/>
            </a:defPPr>
            <a:lvl1pPr algn="r"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ko-KR" dirty="0"/>
              <a:t>Slide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05245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937117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theme" Target="../theme/theme1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764DE79-268F-4C1A-8933-263129D2AF90}" type="datetimeFigureOut">
              <a:rPr lang="en-US" smtClean="0"/>
              <a:pPr/>
              <a:t>5/10/2021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53F7A83-B5B7-4266-8D27-EF99E7F4AEB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C496C8-2C55-4DF1-80F7-A2BB64DB8860}"/>
              </a:ext>
            </a:extLst>
          </p:cNvPr>
          <p:cNvSpPr txBox="1"/>
          <p:nvPr userDrawn="1"/>
        </p:nvSpPr>
        <p:spPr>
          <a:xfrm>
            <a:off x="1" y="-206512"/>
            <a:ext cx="577851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600" dirty="0">
                <a:solidFill>
                  <a:srgbClr val="E6E6E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JAY DESIGN</a:t>
            </a:r>
          </a:p>
        </p:txBody>
      </p:sp>
    </p:spTree>
    <p:extLst>
      <p:ext uri="{BB962C8B-B14F-4D97-AF65-F5344CB8AC3E}">
        <p14:creationId xmlns:p14="http://schemas.microsoft.com/office/powerpoint/2010/main" val="234617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5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97657392-49DB-4763-9DA6-54B56DA45EC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D9891E20-179E-499D-B590-F0938DA4C912}"/>
              </a:ext>
            </a:extLst>
          </p:cNvPr>
          <p:cNvCxnSpPr>
            <a:cxnSpLocks/>
          </p:cNvCxnSpPr>
          <p:nvPr/>
        </p:nvCxnSpPr>
        <p:spPr>
          <a:xfrm>
            <a:off x="857418" y="620688"/>
            <a:ext cx="10477164" cy="0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0D4ADA9-FA6F-4D4D-85DD-194953472693}"/>
              </a:ext>
            </a:extLst>
          </p:cNvPr>
          <p:cNvSpPr txBox="1"/>
          <p:nvPr/>
        </p:nvSpPr>
        <p:spPr>
          <a:xfrm>
            <a:off x="857418" y="1241377"/>
            <a:ext cx="3654406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pPr algn="l"/>
            <a:r>
              <a:rPr lang="ko-KR" altLang="en-US" sz="2800" b="1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네트워크 프로그래밍 설계과제 제안서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E9B1347-63DA-4F9B-8F57-2C022148B4E0}"/>
              </a:ext>
            </a:extLst>
          </p:cNvPr>
          <p:cNvSpPr txBox="1"/>
          <p:nvPr/>
        </p:nvSpPr>
        <p:spPr>
          <a:xfrm>
            <a:off x="7680176" y="795148"/>
            <a:ext cx="3654406" cy="36779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pPr algn="r"/>
            <a:r>
              <a:rPr lang="en-US" altLang="ko-KR" sz="23900" b="1" dirty="0">
                <a:solidFill>
                  <a:schemeClr val="bg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05</a:t>
            </a:r>
            <a:endParaRPr lang="ko-KR" altLang="en-US" sz="23900" b="1" dirty="0">
              <a:solidFill>
                <a:schemeClr val="bg1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D4DEBA-7E19-4D2E-8AEF-2A683277ADE5}"/>
              </a:ext>
            </a:extLst>
          </p:cNvPr>
          <p:cNvSpPr txBox="1"/>
          <p:nvPr/>
        </p:nvSpPr>
        <p:spPr>
          <a:xfrm>
            <a:off x="857418" y="5164683"/>
            <a:ext cx="188635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Team</a:t>
            </a:r>
            <a:r>
              <a:rPr lang="ko-KR" altLang="en-US" b="1" dirty="0"/>
              <a:t> </a:t>
            </a:r>
            <a:r>
              <a:rPr lang="en-US" altLang="ko-KR" b="1" dirty="0"/>
              <a:t>BINGO(5</a:t>
            </a:r>
            <a:r>
              <a:rPr lang="ko-KR" altLang="en-US" b="1" dirty="0"/>
              <a:t>조</a:t>
            </a:r>
            <a:r>
              <a:rPr lang="en-US" altLang="ko-KR" b="1" dirty="0"/>
              <a:t>)</a:t>
            </a:r>
          </a:p>
          <a:p>
            <a:endParaRPr lang="en-US" altLang="ko-KR" b="1" dirty="0"/>
          </a:p>
          <a:p>
            <a:r>
              <a:rPr lang="en-US" altLang="ko-KR" sz="1400" b="1" dirty="0"/>
              <a:t>2017150003 </a:t>
            </a:r>
            <a:r>
              <a:rPr lang="ko-KR" altLang="en-US" sz="1400" b="1" dirty="0"/>
              <a:t>권순호</a:t>
            </a:r>
            <a:endParaRPr lang="en-US" altLang="ko-KR" sz="1400" b="1" dirty="0"/>
          </a:p>
          <a:p>
            <a:r>
              <a:rPr lang="en-US" altLang="ko-KR" sz="1400" b="1" dirty="0"/>
              <a:t>2017150039 </a:t>
            </a:r>
            <a:r>
              <a:rPr lang="ko-KR" altLang="en-US" sz="1400" b="1" dirty="0"/>
              <a:t>한민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81A7DB-8555-434E-AD6F-B288CCB9C58B}"/>
              </a:ext>
            </a:extLst>
          </p:cNvPr>
          <p:cNvSpPr txBox="1"/>
          <p:nvPr/>
        </p:nvSpPr>
        <p:spPr>
          <a:xfrm>
            <a:off x="857418" y="2444115"/>
            <a:ext cx="36279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서버와 클라이언트 간의 빙고 게임</a:t>
            </a:r>
          </a:p>
        </p:txBody>
      </p:sp>
    </p:spTree>
    <p:extLst>
      <p:ext uri="{BB962C8B-B14F-4D97-AF65-F5344CB8AC3E}">
        <p14:creationId xmlns:p14="http://schemas.microsoft.com/office/powerpoint/2010/main" val="40258257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/>
        </p:nvCxnSpPr>
        <p:spPr>
          <a:xfrm>
            <a:off x="857418" y="620688"/>
            <a:ext cx="10477164" cy="0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57418" y="291672"/>
            <a:ext cx="876697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/>
                <a:ea typeface="나눔스퀘어 ExtraBold"/>
              </a:defRPr>
            </a:lvl1pPr>
          </a:lstStyle>
          <a:p>
            <a:pPr algn="l">
              <a:defRPr/>
            </a:pPr>
            <a:r>
              <a:rPr lang="ko-KR" altLang="en-US" sz="1400" dirty="0">
                <a:latin typeface="Arial"/>
                <a:ea typeface="맑은 고딕"/>
                <a:cs typeface="Arial"/>
              </a:rPr>
              <a:t>서버와 클라이언트 간의 빙고 게임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418" y="1073826"/>
            <a:ext cx="10477164" cy="2977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/>
                <a:ea typeface="나눔스퀘어 ExtraBold"/>
              </a:defRPr>
            </a:lvl1pPr>
          </a:lstStyle>
          <a:p>
            <a:pPr algn="l">
              <a:defRPr/>
            </a:pPr>
            <a:r>
              <a:rPr lang="en-US" altLang="ko-KR" sz="2000" b="1" dirty="0">
                <a:latin typeface="Arial"/>
                <a:ea typeface="맑은 고딕"/>
                <a:cs typeface="Arial"/>
              </a:rPr>
              <a:t>1. </a:t>
            </a:r>
            <a:r>
              <a:rPr lang="ko-KR" altLang="en-US" sz="2000" b="1" dirty="0">
                <a:latin typeface="Arial"/>
                <a:ea typeface="맑은 고딕"/>
                <a:cs typeface="Arial"/>
              </a:rPr>
              <a:t>문제 정의 및 요구사항 분석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857418" y="1772819"/>
            <a:ext cx="257428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57418" y="1988843"/>
            <a:ext cx="2574286" cy="2019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/>
                <a:ea typeface="나눔스퀘어 ExtraBold"/>
              </a:defRPr>
            </a:lvl1pPr>
          </a:lstStyle>
          <a:p>
            <a:pPr algn="l">
              <a:defRPr/>
            </a:pPr>
            <a:r>
              <a:rPr lang="ko-KR" altLang="en-US" sz="1400" b="1" dirty="0">
                <a:latin typeface="Arial"/>
                <a:ea typeface="맑은 고딕"/>
                <a:cs typeface="Arial"/>
              </a:rPr>
              <a:t>문제 정의 및 설계과제 목표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19736" y="1772815"/>
            <a:ext cx="7614847" cy="39040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ko-KR" altLang="en-US" sz="1600" dirty="0">
                <a:solidFill>
                  <a:schemeClr val="tx1">
                    <a:alpha val="80000"/>
                  </a:schemeClr>
                </a:solidFill>
                <a:latin typeface="Trebuchet MS"/>
                <a:ea typeface="맑은 고딕"/>
              </a:rPr>
              <a:t>저희 조의 주제는 서버와 클라이언트가 </a:t>
            </a:r>
            <a:r>
              <a:rPr lang="en-US" altLang="ko-KR" sz="1600" dirty="0">
                <a:solidFill>
                  <a:schemeClr val="tx1">
                    <a:alpha val="80000"/>
                  </a:schemeClr>
                </a:solidFill>
                <a:latin typeface="Trebuchet MS"/>
                <a:ea typeface="맑은 고딕"/>
              </a:rPr>
              <a:t>1:1</a:t>
            </a:r>
            <a:r>
              <a:rPr lang="ko-KR" altLang="en-US" sz="1600" dirty="0">
                <a:solidFill>
                  <a:schemeClr val="tx1">
                    <a:alpha val="80000"/>
                  </a:schemeClr>
                </a:solidFill>
                <a:latin typeface="Trebuchet MS"/>
                <a:ea typeface="맑은 고딕"/>
              </a:rPr>
              <a:t>로 통신하며 즐기는 빙고 게임입니다</a:t>
            </a:r>
            <a:r>
              <a:rPr lang="en-US" altLang="ko-KR" sz="1600" dirty="0">
                <a:solidFill>
                  <a:schemeClr val="tx1">
                    <a:alpha val="80000"/>
                  </a:schemeClr>
                </a:solidFill>
                <a:latin typeface="Trebuchet MS"/>
                <a:ea typeface="맑은 고딕"/>
              </a:rPr>
              <a:t>.</a:t>
            </a:r>
          </a:p>
          <a:p>
            <a:pPr>
              <a:lnSpc>
                <a:spcPct val="200000"/>
              </a:lnSpc>
              <a:defRPr/>
            </a:pPr>
            <a:r>
              <a:rPr lang="ko-KR" altLang="en-US" sz="1600" dirty="0">
                <a:solidFill>
                  <a:schemeClr val="tx1">
                    <a:alpha val="80000"/>
                  </a:schemeClr>
                </a:solidFill>
                <a:latin typeface="Trebuchet MS"/>
                <a:ea typeface="맑은 고딕"/>
              </a:rPr>
              <a:t>서로 다른 네트워크 인터페이스를 사용할 계획이며</a:t>
            </a:r>
            <a:r>
              <a:rPr lang="en-US" altLang="ko-KR" sz="1600" dirty="0">
                <a:solidFill>
                  <a:schemeClr val="tx1">
                    <a:alpha val="80000"/>
                  </a:schemeClr>
                </a:solidFill>
                <a:latin typeface="Trebuchet MS"/>
                <a:ea typeface="맑은 고딕"/>
              </a:rPr>
              <a:t>,</a:t>
            </a:r>
            <a:r>
              <a:rPr lang="ko-KR" altLang="en-US" sz="1600" dirty="0">
                <a:solidFill>
                  <a:schemeClr val="tx1">
                    <a:alpha val="80000"/>
                  </a:schemeClr>
                </a:solidFill>
                <a:latin typeface="Trebuchet MS"/>
                <a:ea typeface="맑은 고딕"/>
              </a:rPr>
              <a:t> </a:t>
            </a:r>
            <a:r>
              <a:rPr lang="ko-KR" altLang="en-US" sz="1600" dirty="0">
                <a:solidFill>
                  <a:srgbClr val="FF0000"/>
                </a:solidFill>
                <a:latin typeface="Trebuchet MS"/>
                <a:ea typeface="맑은 고딕"/>
              </a:rPr>
              <a:t>서버는 버클리 소켓</a:t>
            </a:r>
            <a:r>
              <a:rPr lang="en-US" altLang="ko-KR" sz="1600" dirty="0">
                <a:solidFill>
                  <a:schemeClr val="tx1">
                    <a:alpha val="80000"/>
                  </a:schemeClr>
                </a:solidFill>
                <a:latin typeface="Trebuchet MS"/>
                <a:ea typeface="맑은 고딕"/>
              </a:rPr>
              <a:t>,</a:t>
            </a:r>
            <a:r>
              <a:rPr lang="ko-KR" altLang="en-US" sz="1600" dirty="0">
                <a:solidFill>
                  <a:schemeClr val="tx1">
                    <a:alpha val="80000"/>
                  </a:schemeClr>
                </a:solidFill>
                <a:latin typeface="Trebuchet MS"/>
                <a:ea typeface="맑은 고딕"/>
              </a:rPr>
              <a:t> 그리고 </a:t>
            </a:r>
            <a:r>
              <a:rPr lang="ko-KR" altLang="en-US" sz="1600" dirty="0">
                <a:solidFill>
                  <a:srgbClr val="FF0000"/>
                </a:solidFill>
                <a:latin typeface="Trebuchet MS"/>
                <a:ea typeface="맑은 고딕"/>
              </a:rPr>
              <a:t>클라이언트는 윈도우 소켓</a:t>
            </a:r>
            <a:r>
              <a:rPr lang="ko-KR" altLang="en-US" sz="1600" dirty="0">
                <a:solidFill>
                  <a:schemeClr val="tx1">
                    <a:alpha val="80000"/>
                  </a:schemeClr>
                </a:solidFill>
                <a:latin typeface="Trebuchet MS"/>
                <a:ea typeface="맑은 고딕"/>
              </a:rPr>
              <a:t>을 사용하여 프로그램을 구현할 예정입니다</a:t>
            </a:r>
            <a:r>
              <a:rPr lang="en-US" altLang="ko-KR" sz="1600" dirty="0">
                <a:solidFill>
                  <a:schemeClr val="tx1">
                    <a:alpha val="80000"/>
                  </a:schemeClr>
                </a:solidFill>
                <a:latin typeface="Trebuchet MS"/>
                <a:ea typeface="맑은 고딕"/>
              </a:rPr>
              <a:t>.</a:t>
            </a:r>
          </a:p>
          <a:p>
            <a:pPr>
              <a:lnSpc>
                <a:spcPct val="200000"/>
              </a:lnSpc>
              <a:defRPr/>
            </a:pPr>
            <a:endParaRPr lang="ko-KR" altLang="en-US" sz="1600" dirty="0">
              <a:solidFill>
                <a:schemeClr val="tx1">
                  <a:alpha val="80000"/>
                </a:schemeClr>
              </a:solidFill>
              <a:latin typeface="Trebuchet MS"/>
              <a:ea typeface="맑은 고딕"/>
            </a:endParaRPr>
          </a:p>
          <a:p>
            <a:pPr>
              <a:lnSpc>
                <a:spcPct val="200000"/>
              </a:lnSpc>
              <a:defRPr/>
            </a:pPr>
            <a:r>
              <a:rPr lang="ko-KR" altLang="en-US" sz="1600" dirty="0">
                <a:solidFill>
                  <a:schemeClr val="tx1">
                    <a:alpha val="80000"/>
                  </a:schemeClr>
                </a:solidFill>
                <a:latin typeface="Trebuchet MS"/>
                <a:ea typeface="맑은 고딕"/>
              </a:rPr>
              <a:t>서로 다른 소켓을 사용하여 간단한 빙고 게임을 구현하는 것이 설계과제의 목표이며</a:t>
            </a:r>
            <a:r>
              <a:rPr lang="en-US" altLang="ko-KR" sz="1600" dirty="0">
                <a:solidFill>
                  <a:schemeClr val="tx1">
                    <a:alpha val="80000"/>
                  </a:schemeClr>
                </a:solidFill>
                <a:latin typeface="Trebuchet MS"/>
                <a:ea typeface="맑은 고딕"/>
              </a:rPr>
              <a:t>,</a:t>
            </a:r>
            <a:r>
              <a:rPr lang="ko-KR" altLang="en-US" sz="1600" dirty="0">
                <a:solidFill>
                  <a:schemeClr val="tx1">
                    <a:alpha val="80000"/>
                  </a:schemeClr>
                </a:solidFill>
                <a:latin typeface="Trebuchet MS"/>
                <a:ea typeface="맑은 고딕"/>
              </a:rPr>
              <a:t> </a:t>
            </a:r>
          </a:p>
          <a:p>
            <a:pPr>
              <a:lnSpc>
                <a:spcPct val="200000"/>
              </a:lnSpc>
              <a:defRPr/>
            </a:pPr>
            <a:r>
              <a:rPr lang="ko-KR" altLang="en-US" sz="1600" dirty="0">
                <a:solidFill>
                  <a:schemeClr val="tx1">
                    <a:alpha val="80000"/>
                  </a:schemeClr>
                </a:solidFill>
                <a:latin typeface="Trebuchet MS"/>
                <a:ea typeface="맑은 고딕"/>
              </a:rPr>
              <a:t>설계 과제를 통해 서로 다른 네트워크 인터페이스 간의 연결 설정과 통신 방법</a:t>
            </a:r>
            <a:r>
              <a:rPr lang="en-US" altLang="ko-KR" sz="1600" dirty="0">
                <a:solidFill>
                  <a:schemeClr val="tx1">
                    <a:alpha val="80000"/>
                  </a:schemeClr>
                </a:solidFill>
                <a:latin typeface="Trebuchet MS"/>
                <a:ea typeface="맑은 고딕"/>
              </a:rPr>
              <a:t>,</a:t>
            </a:r>
            <a:r>
              <a:rPr lang="ko-KR" altLang="en-US" sz="1600" dirty="0">
                <a:solidFill>
                  <a:schemeClr val="tx1">
                    <a:alpha val="80000"/>
                  </a:schemeClr>
                </a:solidFill>
                <a:latin typeface="Trebuchet MS"/>
                <a:ea typeface="맑은 고딕"/>
              </a:rPr>
              <a:t> 그리고 익숙한 버클리 소켓뿐만 아니라 윈도우 소켓의 소스 코드를 학습할 예정입니다</a:t>
            </a:r>
            <a:r>
              <a:rPr lang="en-US" altLang="ko-KR" sz="1600" dirty="0">
                <a:solidFill>
                  <a:schemeClr val="tx1">
                    <a:alpha val="80000"/>
                  </a:schemeClr>
                </a:solidFill>
                <a:latin typeface="Trebuchet MS"/>
                <a:ea typeface="맑은 고딕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/>
        </p:nvCxnSpPr>
        <p:spPr>
          <a:xfrm>
            <a:off x="857418" y="620688"/>
            <a:ext cx="10477164" cy="0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57418" y="291672"/>
            <a:ext cx="876697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/>
                <a:ea typeface="나눔스퀘어 ExtraBold"/>
              </a:defRPr>
            </a:lvl1pPr>
          </a:lstStyle>
          <a:p>
            <a:pPr algn="l">
              <a:defRPr/>
            </a:pPr>
            <a:r>
              <a:rPr lang="ko-KR" altLang="en-US" sz="1400">
                <a:latin typeface="Arial"/>
                <a:ea typeface="맑은 고딕"/>
                <a:cs typeface="Arial"/>
              </a:rPr>
              <a:t>서버와 클라이언트 간의 빙고 게임</a:t>
            </a:r>
            <a:endParaRPr lang="ko-KR" altLang="en-US" sz="1400">
              <a:latin typeface="Arial"/>
              <a:ea typeface="맑은 고딕"/>
              <a:cs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57418" y="1073826"/>
            <a:ext cx="10477164" cy="2977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/>
                <a:ea typeface="나눔스퀘어 ExtraBold"/>
              </a:defRPr>
            </a:lvl1pPr>
          </a:lstStyle>
          <a:p>
            <a:pPr algn="l">
              <a:defRPr/>
            </a:pPr>
            <a:r>
              <a:rPr lang="en-US" altLang="ko-KR" sz="2000" b="1">
                <a:latin typeface="Arial"/>
                <a:ea typeface="맑은 고딕"/>
                <a:cs typeface="Arial"/>
              </a:rPr>
              <a:t>1. </a:t>
            </a:r>
            <a:r>
              <a:rPr lang="ko-KR" altLang="en-US" sz="2000" b="1">
                <a:latin typeface="Arial"/>
                <a:ea typeface="맑은 고딕"/>
                <a:cs typeface="Arial"/>
              </a:rPr>
              <a:t>문제 정의 및 요구사항 분석</a:t>
            </a:r>
            <a:endParaRPr lang="ko-KR" altLang="en-US" sz="2000" b="1">
              <a:latin typeface="Arial"/>
              <a:ea typeface="맑은 고딕"/>
              <a:cs typeface="Arial"/>
            </a:endParaRPr>
          </a:p>
        </p:txBody>
      </p:sp>
      <p:cxnSp>
        <p:nvCxnSpPr>
          <p:cNvPr id="8" name="직선 연결선 7"/>
          <p:cNvCxnSpPr/>
          <p:nvPr/>
        </p:nvCxnSpPr>
        <p:spPr>
          <a:xfrm>
            <a:off x="857418" y="1772819"/>
            <a:ext cx="257428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57418" y="1988843"/>
            <a:ext cx="2574286" cy="2019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/>
                <a:ea typeface="나눔스퀘어 ExtraBold"/>
              </a:defRPr>
            </a:lvl1pPr>
          </a:lstStyle>
          <a:p>
            <a:pPr algn="l">
              <a:defRPr/>
            </a:pPr>
            <a:r>
              <a:rPr lang="ko-KR" altLang="en-US" sz="1400" b="1">
                <a:latin typeface="Arial"/>
                <a:ea typeface="맑은 고딕"/>
                <a:cs typeface="Arial"/>
              </a:rPr>
              <a:t>요구사항 분석</a:t>
            </a:r>
            <a:endParaRPr lang="ko-KR" altLang="en-US" sz="1400" b="1">
              <a:latin typeface="Arial"/>
              <a:ea typeface="맑은 고딕"/>
              <a:cs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19734" y="1902669"/>
            <a:ext cx="7614848" cy="41076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en-US" altLang="ko-KR" sz="1500">
                <a:solidFill>
                  <a:schemeClr val="tx1">
                    <a:alpha val="80000"/>
                  </a:schemeClr>
                </a:solidFill>
                <a:latin typeface="Trebuchet MS"/>
                <a:ea typeface="맑은 고딕"/>
              </a:rPr>
              <a:t>1. 클라이언트</a:t>
            </a:r>
            <a:r>
              <a:rPr lang="ko-KR" altLang="en-US" sz="1500">
                <a:solidFill>
                  <a:schemeClr val="tx1">
                    <a:alpha val="80000"/>
                  </a:schemeClr>
                </a:solidFill>
                <a:latin typeface="Trebuchet MS"/>
                <a:ea typeface="맑은 고딕"/>
              </a:rPr>
              <a:t>가 서버에</a:t>
            </a:r>
            <a:r>
              <a:rPr lang="en-US" altLang="ko-KR" sz="1500">
                <a:solidFill>
                  <a:schemeClr val="tx1">
                    <a:alpha val="80000"/>
                  </a:schemeClr>
                </a:solidFill>
                <a:latin typeface="Trebuchet MS"/>
                <a:ea typeface="맑은 고딕"/>
              </a:rPr>
              <a:t> </a:t>
            </a:r>
            <a:r>
              <a:rPr lang="ko-KR" altLang="en-US" sz="1500">
                <a:solidFill>
                  <a:schemeClr val="tx1">
                    <a:alpha val="80000"/>
                  </a:schemeClr>
                </a:solidFill>
                <a:latin typeface="Trebuchet MS"/>
                <a:ea typeface="맑은 고딕"/>
              </a:rPr>
              <a:t>접속되면</a:t>
            </a:r>
            <a:r>
              <a:rPr lang="en-US" altLang="ko-KR" sz="1500">
                <a:solidFill>
                  <a:schemeClr val="tx1">
                    <a:alpha val="80000"/>
                  </a:schemeClr>
                </a:solidFill>
                <a:latin typeface="Trebuchet MS"/>
                <a:ea typeface="맑은 고딕"/>
              </a:rPr>
              <a:t>, 1~25번이 랜덤 함수에 의해 25개의 각 칸에 나누어 적힌 5x5 빙고 테이블이 각자 생성된다.</a:t>
            </a:r>
            <a:endParaRPr lang="en-US" altLang="ko-KR" sz="1500">
              <a:solidFill>
                <a:schemeClr val="tx1">
                  <a:alpha val="80000"/>
                </a:schemeClr>
              </a:solidFill>
              <a:latin typeface="Trebuchet MS"/>
              <a:ea typeface="맑은 고딕"/>
            </a:endParaRPr>
          </a:p>
          <a:p>
            <a:pPr>
              <a:lnSpc>
                <a:spcPct val="200000"/>
              </a:lnSpc>
              <a:defRPr/>
            </a:pPr>
            <a:r>
              <a:rPr lang="en-US" altLang="ko-KR" sz="1500">
                <a:solidFill>
                  <a:schemeClr val="tx1">
                    <a:alpha val="80000"/>
                  </a:schemeClr>
                </a:solidFill>
                <a:latin typeface="Trebuchet MS"/>
                <a:ea typeface="맑은 고딕"/>
              </a:rPr>
              <a:t>2. 서버와 클라이언트는 빙고 테이블 내에 있는 번호 중 하나를 번갈아 가며 </a:t>
            </a:r>
            <a:r>
              <a:rPr lang="ko-KR" altLang="en-US" sz="1500">
                <a:solidFill>
                  <a:schemeClr val="tx1">
                    <a:alpha val="80000"/>
                  </a:schemeClr>
                </a:solidFill>
                <a:latin typeface="Trebuchet MS"/>
                <a:ea typeface="맑은 고딕"/>
              </a:rPr>
              <a:t>선</a:t>
            </a:r>
            <a:r>
              <a:rPr lang="en-US" altLang="ko-KR" sz="1500">
                <a:solidFill>
                  <a:schemeClr val="tx1">
                    <a:alpha val="80000"/>
                  </a:schemeClr>
                </a:solidFill>
                <a:latin typeface="Trebuchet MS"/>
                <a:ea typeface="맑은 고딕"/>
              </a:rPr>
              <a:t>택한다.</a:t>
            </a:r>
            <a:endParaRPr lang="en-US" altLang="ko-KR" sz="1500">
              <a:solidFill>
                <a:schemeClr val="tx1">
                  <a:alpha val="80000"/>
                </a:schemeClr>
              </a:solidFill>
              <a:latin typeface="Trebuchet MS"/>
              <a:ea typeface="맑은 고딕"/>
            </a:endParaRPr>
          </a:p>
          <a:p>
            <a:pPr>
              <a:lnSpc>
                <a:spcPct val="200000"/>
              </a:lnSpc>
              <a:defRPr/>
            </a:pPr>
            <a:r>
              <a:rPr lang="en-US" altLang="ko-KR" sz="1500">
                <a:solidFill>
                  <a:schemeClr val="tx1">
                    <a:alpha val="80000"/>
                  </a:schemeClr>
                </a:solidFill>
                <a:latin typeface="Trebuchet MS"/>
                <a:ea typeface="맑은 고딕"/>
              </a:rPr>
              <a:t>3. 한 번 선택된 번호는 같은 게임 내에서 다시 선택될 수 없으며, 빙고 테이블 내에 중복되는 번호가 있으면 안 된다.</a:t>
            </a:r>
            <a:endParaRPr lang="en-US" altLang="ko-KR" sz="1500">
              <a:solidFill>
                <a:schemeClr val="tx1">
                  <a:alpha val="80000"/>
                </a:schemeClr>
              </a:solidFill>
              <a:latin typeface="Trebuchet MS"/>
              <a:ea typeface="맑은 고딕"/>
            </a:endParaRPr>
          </a:p>
          <a:p>
            <a:pPr>
              <a:lnSpc>
                <a:spcPct val="200000"/>
              </a:lnSpc>
              <a:defRPr/>
            </a:pPr>
            <a:r>
              <a:rPr lang="en-US" altLang="ko-KR" sz="1500">
                <a:solidFill>
                  <a:schemeClr val="tx1">
                    <a:alpha val="80000"/>
                  </a:schemeClr>
                </a:solidFill>
                <a:latin typeface="Trebuchet MS"/>
                <a:ea typeface="맑은 고딕"/>
              </a:rPr>
              <a:t>4. 빙고 테이블에서 선택한 번호가 있는 위치를 찾고, 그 위치에 X 표시를 한다.</a:t>
            </a:r>
            <a:endParaRPr lang="en-US" altLang="ko-KR" sz="1500">
              <a:solidFill>
                <a:schemeClr val="tx1">
                  <a:alpha val="80000"/>
                </a:schemeClr>
              </a:solidFill>
              <a:latin typeface="Trebuchet MS"/>
              <a:ea typeface="맑은 고딕"/>
            </a:endParaRPr>
          </a:p>
          <a:p>
            <a:pPr>
              <a:lnSpc>
                <a:spcPct val="200000"/>
              </a:lnSpc>
              <a:defRPr/>
            </a:pPr>
            <a:r>
              <a:rPr lang="en-US" altLang="ko-KR" sz="1500">
                <a:solidFill>
                  <a:schemeClr val="tx1">
                    <a:alpha val="80000"/>
                  </a:schemeClr>
                </a:solidFill>
                <a:latin typeface="Trebuchet MS"/>
                <a:ea typeface="맑은 고딕"/>
              </a:rPr>
              <a:t>5. 빙고 테이블이 </a:t>
            </a:r>
            <a:r>
              <a:rPr lang="ko-KR" altLang="en-US" sz="1500">
                <a:solidFill>
                  <a:schemeClr val="tx1">
                    <a:alpha val="80000"/>
                  </a:schemeClr>
                </a:solidFill>
                <a:latin typeface="Trebuchet MS"/>
                <a:ea typeface="맑은 고딕"/>
              </a:rPr>
              <a:t>갱신 </a:t>
            </a:r>
            <a:r>
              <a:rPr lang="en-US" altLang="ko-KR" sz="1500">
                <a:solidFill>
                  <a:schemeClr val="tx1">
                    <a:alpha val="80000"/>
                  </a:schemeClr>
                </a:solidFill>
                <a:latin typeface="Trebuchet MS"/>
                <a:ea typeface="맑은 고딕"/>
              </a:rPr>
              <a:t>될 때마다 빙고 테이블을 출력한다.</a:t>
            </a:r>
            <a:endParaRPr lang="en-US" altLang="ko-KR" sz="1500">
              <a:solidFill>
                <a:schemeClr val="tx1">
                  <a:alpha val="80000"/>
                </a:schemeClr>
              </a:solidFill>
              <a:latin typeface="Trebuchet MS"/>
              <a:ea typeface="맑은 고딕"/>
            </a:endParaRPr>
          </a:p>
          <a:p>
            <a:pPr>
              <a:lnSpc>
                <a:spcPct val="200000"/>
              </a:lnSpc>
              <a:defRPr/>
            </a:pPr>
            <a:r>
              <a:rPr lang="en-US" altLang="ko-KR" sz="1500">
                <a:solidFill>
                  <a:schemeClr val="tx1">
                    <a:alpha val="80000"/>
                  </a:schemeClr>
                </a:solidFill>
                <a:latin typeface="Trebuchet MS"/>
                <a:ea typeface="맑은 고딕"/>
              </a:rPr>
              <a:t>6.</a:t>
            </a:r>
            <a:r>
              <a:rPr lang="ko-KR" altLang="en-US" sz="1500">
                <a:solidFill>
                  <a:schemeClr val="tx1">
                    <a:alpha val="80000"/>
                  </a:schemeClr>
                </a:solidFill>
                <a:latin typeface="Trebuchet MS"/>
                <a:ea typeface="맑은 고딕"/>
              </a:rPr>
              <a:t> 가로 또는 세로 한 줄의 숫자가 모두 </a:t>
            </a:r>
            <a:r>
              <a:rPr lang="en-US" altLang="ko-KR" sz="1500">
                <a:solidFill>
                  <a:schemeClr val="tx1">
                    <a:alpha val="80000"/>
                  </a:schemeClr>
                </a:solidFill>
                <a:latin typeface="Trebuchet MS"/>
                <a:ea typeface="맑은 고딕"/>
              </a:rPr>
              <a:t>X</a:t>
            </a:r>
            <a:r>
              <a:rPr lang="ko-KR" altLang="en-US" sz="1500">
                <a:solidFill>
                  <a:schemeClr val="tx1">
                    <a:alpha val="80000"/>
                  </a:schemeClr>
                </a:solidFill>
                <a:latin typeface="Trebuchet MS"/>
                <a:ea typeface="맑은 고딕"/>
              </a:rPr>
              <a:t>표시로 변경되면</a:t>
            </a:r>
            <a:r>
              <a:rPr lang="en-US" altLang="ko-KR" sz="1500">
                <a:solidFill>
                  <a:schemeClr val="tx1">
                    <a:alpha val="80000"/>
                  </a:schemeClr>
                </a:solidFill>
                <a:latin typeface="Trebuchet MS"/>
                <a:ea typeface="맑은 고딕"/>
              </a:rPr>
              <a:t>,</a:t>
            </a:r>
            <a:r>
              <a:rPr lang="ko-KR" altLang="en-US" sz="1500">
                <a:solidFill>
                  <a:schemeClr val="tx1">
                    <a:alpha val="80000"/>
                  </a:schemeClr>
                </a:solidFill>
                <a:latin typeface="Trebuchet MS"/>
                <a:ea typeface="맑은 고딕"/>
              </a:rPr>
              <a:t> 해당 플레이어의 빙고 카운트가 </a:t>
            </a:r>
            <a:r>
              <a:rPr lang="en-US" altLang="ko-KR" sz="1500">
                <a:solidFill>
                  <a:schemeClr val="tx1">
                    <a:alpha val="80000"/>
                  </a:schemeClr>
                </a:solidFill>
                <a:latin typeface="Trebuchet MS"/>
                <a:ea typeface="맑은 고딕"/>
              </a:rPr>
              <a:t>1 </a:t>
            </a:r>
            <a:r>
              <a:rPr lang="ko-KR" altLang="en-US" sz="1500">
                <a:solidFill>
                  <a:schemeClr val="tx1">
                    <a:alpha val="80000"/>
                  </a:schemeClr>
                </a:solidFill>
                <a:latin typeface="Trebuchet MS"/>
                <a:ea typeface="맑은 고딕"/>
              </a:rPr>
              <a:t>증가한다</a:t>
            </a:r>
            <a:r>
              <a:rPr lang="en-US" altLang="ko-KR" sz="1500">
                <a:solidFill>
                  <a:schemeClr val="tx1">
                    <a:alpha val="80000"/>
                  </a:schemeClr>
                </a:solidFill>
                <a:latin typeface="Trebuchet MS"/>
                <a:ea typeface="맑은 고딕"/>
              </a:rPr>
              <a:t>.</a:t>
            </a:r>
            <a:endParaRPr lang="en-US" altLang="ko-KR" sz="1500">
              <a:solidFill>
                <a:schemeClr val="tx1">
                  <a:alpha val="80000"/>
                </a:schemeClr>
              </a:solidFill>
              <a:latin typeface="Trebuchet MS"/>
              <a:ea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/>
        </p:nvCxnSpPr>
        <p:spPr>
          <a:xfrm>
            <a:off x="857418" y="620688"/>
            <a:ext cx="10477164" cy="0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57418" y="291672"/>
            <a:ext cx="876697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/>
                <a:ea typeface="나눔스퀘어 ExtraBold"/>
              </a:defRPr>
            </a:lvl1pPr>
          </a:lstStyle>
          <a:p>
            <a:pPr algn="l">
              <a:defRPr/>
            </a:pPr>
            <a:r>
              <a:rPr lang="ko-KR" altLang="en-US" sz="1400">
                <a:latin typeface="Arial"/>
                <a:ea typeface="맑은 고딕"/>
                <a:cs typeface="Arial"/>
              </a:rPr>
              <a:t>서버와 클라이언트 간의 빙고 게임</a:t>
            </a:r>
            <a:endParaRPr lang="ko-KR" altLang="en-US" sz="1400">
              <a:latin typeface="Arial"/>
              <a:ea typeface="맑은 고딕"/>
              <a:cs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57418" y="1073826"/>
            <a:ext cx="10477164" cy="2977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/>
                <a:ea typeface="나눔스퀘어 ExtraBold"/>
              </a:defRPr>
            </a:lvl1pPr>
          </a:lstStyle>
          <a:p>
            <a:pPr algn="l">
              <a:defRPr/>
            </a:pPr>
            <a:r>
              <a:rPr lang="en-US" altLang="ko-KR" sz="2000" b="1">
                <a:latin typeface="Arial"/>
                <a:ea typeface="맑은 고딕"/>
                <a:cs typeface="Arial"/>
              </a:rPr>
              <a:t>1. </a:t>
            </a:r>
            <a:r>
              <a:rPr lang="ko-KR" altLang="en-US" sz="2000" b="1">
                <a:latin typeface="Arial"/>
                <a:ea typeface="맑은 고딕"/>
                <a:cs typeface="Arial"/>
              </a:rPr>
              <a:t>문제 정의 및 요구사항 분석</a:t>
            </a:r>
            <a:endParaRPr lang="ko-KR" altLang="en-US" sz="2000" b="1">
              <a:latin typeface="Arial"/>
              <a:ea typeface="맑은 고딕"/>
              <a:cs typeface="Arial"/>
            </a:endParaRPr>
          </a:p>
        </p:txBody>
      </p:sp>
      <p:cxnSp>
        <p:nvCxnSpPr>
          <p:cNvPr id="8" name="직선 연결선 7"/>
          <p:cNvCxnSpPr/>
          <p:nvPr/>
        </p:nvCxnSpPr>
        <p:spPr>
          <a:xfrm>
            <a:off x="857418" y="1772819"/>
            <a:ext cx="257428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57418" y="1988843"/>
            <a:ext cx="257428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/>
                <a:ea typeface="나눔스퀘어 ExtraBold"/>
              </a:defRPr>
            </a:lvl1pPr>
          </a:lstStyle>
          <a:p>
            <a:pPr algn="l">
              <a:defRPr/>
            </a:pPr>
            <a:r>
              <a:rPr lang="ko-KR" altLang="en-US" sz="1400" b="1">
                <a:latin typeface="Arial"/>
                <a:ea typeface="맑은 고딕"/>
                <a:cs typeface="Arial"/>
              </a:rPr>
              <a:t>요구사항 분석 </a:t>
            </a:r>
            <a:r>
              <a:rPr lang="en-US" altLang="ko-KR" sz="1400" b="1">
                <a:latin typeface="Arial"/>
                <a:ea typeface="맑은 고딕"/>
                <a:cs typeface="Arial"/>
              </a:rPr>
              <a:t>- </a:t>
            </a:r>
            <a:r>
              <a:rPr lang="ko-KR" altLang="en-US" sz="1400" b="1">
                <a:latin typeface="Arial"/>
                <a:ea typeface="맑은 고딕"/>
                <a:cs typeface="Arial"/>
              </a:rPr>
              <a:t>계속</a:t>
            </a:r>
            <a:endParaRPr lang="ko-KR" altLang="en-US" sz="1400" b="1">
              <a:latin typeface="Arial"/>
              <a:ea typeface="맑은 고딕"/>
              <a:cs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19735" y="1918928"/>
            <a:ext cx="7614847" cy="31959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en-US" altLang="ko-KR" sz="1500">
                <a:solidFill>
                  <a:schemeClr val="tx1">
                    <a:alpha val="80000"/>
                  </a:schemeClr>
                </a:solidFill>
                <a:latin typeface="Trebuchet MS"/>
                <a:ea typeface="맑은 고딕"/>
              </a:rPr>
              <a:t>7. </a:t>
            </a:r>
            <a:r>
              <a:rPr lang="ko-KR" altLang="en-US" sz="1500">
                <a:solidFill>
                  <a:schemeClr val="tx1">
                    <a:alpha val="80000"/>
                  </a:schemeClr>
                </a:solidFill>
                <a:latin typeface="Trebuchet MS"/>
                <a:ea typeface="맑은 고딕"/>
              </a:rPr>
              <a:t>빙고 카운트 </a:t>
            </a:r>
            <a:r>
              <a:rPr lang="en-US" altLang="ko-KR" sz="1500">
                <a:solidFill>
                  <a:schemeClr val="tx1">
                    <a:alpha val="80000"/>
                  </a:schemeClr>
                </a:solidFill>
                <a:latin typeface="Trebuchet MS"/>
                <a:ea typeface="맑은 고딕"/>
              </a:rPr>
              <a:t>5</a:t>
            </a:r>
            <a:r>
              <a:rPr lang="ko-KR" altLang="en-US" sz="1500">
                <a:solidFill>
                  <a:schemeClr val="tx1">
                    <a:alpha val="80000"/>
                  </a:schemeClr>
                </a:solidFill>
                <a:latin typeface="Trebuchet MS"/>
                <a:ea typeface="맑은 고딕"/>
              </a:rPr>
              <a:t>를 달성한 플레이어가 승리하게 되며</a:t>
            </a:r>
            <a:r>
              <a:rPr lang="en-US" altLang="ko-KR" sz="1500">
                <a:solidFill>
                  <a:schemeClr val="tx1">
                    <a:alpha val="80000"/>
                  </a:schemeClr>
                </a:solidFill>
                <a:latin typeface="Trebuchet MS"/>
                <a:ea typeface="맑은 고딕"/>
              </a:rPr>
              <a:t>,</a:t>
            </a:r>
            <a:r>
              <a:rPr lang="ko-KR" altLang="en-US" sz="1500">
                <a:solidFill>
                  <a:schemeClr val="tx1">
                    <a:alpha val="80000"/>
                  </a:schemeClr>
                </a:solidFill>
                <a:latin typeface="Trebuchet MS"/>
                <a:ea typeface="맑은 고딕"/>
              </a:rPr>
              <a:t> 빙고판을 초기화 하고 게임이 종료된다</a:t>
            </a:r>
            <a:r>
              <a:rPr lang="en-US" altLang="ko-KR" sz="1500">
                <a:solidFill>
                  <a:schemeClr val="tx1">
                    <a:alpha val="80000"/>
                  </a:schemeClr>
                </a:solidFill>
                <a:latin typeface="Trebuchet MS"/>
                <a:ea typeface="맑은 고딕"/>
              </a:rPr>
              <a:t>.</a:t>
            </a:r>
            <a:endParaRPr lang="en-US" altLang="ko-KR" sz="1500">
              <a:solidFill>
                <a:schemeClr val="tx1">
                  <a:alpha val="80000"/>
                </a:schemeClr>
              </a:solidFill>
              <a:latin typeface="Trebuchet MS"/>
              <a:ea typeface="맑은 고딕"/>
            </a:endParaRPr>
          </a:p>
          <a:p>
            <a:pPr>
              <a:lnSpc>
                <a:spcPct val="200000"/>
              </a:lnSpc>
              <a:defRPr/>
            </a:pPr>
            <a:r>
              <a:rPr lang="en-US" altLang="ko-KR" sz="1500">
                <a:solidFill>
                  <a:schemeClr val="tx1">
                    <a:alpha val="80000"/>
                  </a:schemeClr>
                </a:solidFill>
                <a:latin typeface="Trebuchet MS"/>
                <a:ea typeface="맑은 고딕"/>
              </a:rPr>
              <a:t>8. </a:t>
            </a:r>
            <a:r>
              <a:rPr lang="ko-KR" altLang="en-US" sz="1500">
                <a:solidFill>
                  <a:schemeClr val="tx1">
                    <a:alpha val="80000"/>
                  </a:schemeClr>
                </a:solidFill>
                <a:latin typeface="Trebuchet MS"/>
                <a:ea typeface="맑은 고딕"/>
              </a:rPr>
              <a:t>게임이 종료되면 클라이언트는 접속을 종료할 것인지</a:t>
            </a:r>
            <a:r>
              <a:rPr lang="en-US" altLang="ko-KR" sz="1500">
                <a:solidFill>
                  <a:schemeClr val="tx1">
                    <a:alpha val="80000"/>
                  </a:schemeClr>
                </a:solidFill>
                <a:latin typeface="Trebuchet MS"/>
                <a:ea typeface="맑은 고딕"/>
              </a:rPr>
              <a:t>,</a:t>
            </a:r>
            <a:r>
              <a:rPr lang="ko-KR" altLang="en-US" sz="1500">
                <a:solidFill>
                  <a:schemeClr val="tx1">
                    <a:alpha val="80000"/>
                  </a:schemeClr>
                </a:solidFill>
                <a:latin typeface="Trebuchet MS"/>
                <a:ea typeface="맑은 고딕"/>
              </a:rPr>
              <a:t> 새로운 게임을 시작할 것인지 선택할 수 있다</a:t>
            </a:r>
            <a:r>
              <a:rPr lang="en-US" altLang="ko-KR" sz="1500">
                <a:solidFill>
                  <a:schemeClr val="tx1">
                    <a:alpha val="80000"/>
                  </a:schemeClr>
                </a:solidFill>
                <a:latin typeface="Trebuchet MS"/>
                <a:ea typeface="맑은 고딕"/>
              </a:rPr>
              <a:t>.</a:t>
            </a:r>
            <a:endParaRPr lang="en-US" altLang="ko-KR" sz="1500">
              <a:solidFill>
                <a:schemeClr val="tx1">
                  <a:alpha val="80000"/>
                </a:schemeClr>
              </a:solidFill>
              <a:latin typeface="Trebuchet MS"/>
              <a:ea typeface="맑은 고딕"/>
            </a:endParaRPr>
          </a:p>
          <a:p>
            <a:pPr>
              <a:lnSpc>
                <a:spcPct val="200000"/>
              </a:lnSpc>
              <a:defRPr/>
            </a:pPr>
            <a:r>
              <a:rPr lang="en-US" altLang="ko-KR" sz="1500">
                <a:solidFill>
                  <a:schemeClr val="tx1">
                    <a:alpha val="80000"/>
                  </a:schemeClr>
                </a:solidFill>
                <a:latin typeface="Trebuchet MS"/>
                <a:ea typeface="맑은 고딕"/>
              </a:rPr>
              <a:t>9. 서버는 </a:t>
            </a:r>
            <a:r>
              <a:rPr lang="ko-KR" altLang="en-US" sz="1500">
                <a:solidFill>
                  <a:schemeClr val="tx1">
                    <a:alpha val="80000"/>
                  </a:schemeClr>
                </a:solidFill>
                <a:latin typeface="Trebuchet MS"/>
                <a:ea typeface="맑은 고딕"/>
              </a:rPr>
              <a:t>최소 </a:t>
            </a:r>
            <a:r>
              <a:rPr lang="en-US" altLang="ko-KR" sz="1500">
                <a:solidFill>
                  <a:schemeClr val="tx1">
                    <a:alpha val="80000"/>
                  </a:schemeClr>
                </a:solidFill>
                <a:latin typeface="Trebuchet MS"/>
                <a:ea typeface="맑은 고딕"/>
              </a:rPr>
              <a:t>3</a:t>
            </a:r>
            <a:r>
              <a:rPr lang="ko-KR" altLang="en-US" sz="1500">
                <a:solidFill>
                  <a:schemeClr val="tx1">
                    <a:alpha val="80000"/>
                  </a:schemeClr>
                </a:solidFill>
                <a:latin typeface="Trebuchet MS"/>
                <a:ea typeface="맑은 고딕"/>
              </a:rPr>
              <a:t>명의 </a:t>
            </a:r>
            <a:r>
              <a:rPr lang="en-US" altLang="ko-KR" sz="1500">
                <a:solidFill>
                  <a:schemeClr val="tx1">
                    <a:alpha val="80000"/>
                  </a:schemeClr>
                </a:solidFill>
                <a:latin typeface="Trebuchet MS"/>
                <a:ea typeface="맑은 고딕"/>
              </a:rPr>
              <a:t>클라이언트와 동시에 게임을 진행할 수 있어야</a:t>
            </a:r>
            <a:r>
              <a:rPr lang="ko-KR" altLang="en-US" sz="1500">
                <a:solidFill>
                  <a:schemeClr val="tx1">
                    <a:alpha val="80000"/>
                  </a:schemeClr>
                </a:solidFill>
                <a:latin typeface="Trebuchet MS"/>
                <a:ea typeface="맑은 고딕"/>
              </a:rPr>
              <a:t> </a:t>
            </a:r>
            <a:r>
              <a:rPr lang="en-US" altLang="ko-KR" sz="1500">
                <a:solidFill>
                  <a:schemeClr val="tx1">
                    <a:alpha val="80000"/>
                  </a:schemeClr>
                </a:solidFill>
                <a:latin typeface="Trebuchet MS"/>
                <a:ea typeface="맑은 고딕"/>
              </a:rPr>
              <a:t>하며, </a:t>
            </a:r>
            <a:r>
              <a:rPr lang="ko-KR" altLang="en-US" sz="1500">
                <a:solidFill>
                  <a:schemeClr val="tx1">
                    <a:alpha val="80000"/>
                  </a:schemeClr>
                </a:solidFill>
                <a:latin typeface="Trebuchet MS"/>
                <a:ea typeface="맑은 고딕"/>
              </a:rPr>
              <a:t>한 게임이 끝나면 클라이언트의 선택에 따라 게임을 새로 시작하거나 접속을 종료한다</a:t>
            </a:r>
            <a:r>
              <a:rPr lang="en-US" altLang="ko-KR" sz="1500">
                <a:solidFill>
                  <a:schemeClr val="tx1">
                    <a:alpha val="80000"/>
                  </a:schemeClr>
                </a:solidFill>
                <a:latin typeface="Trebuchet MS"/>
                <a:ea typeface="맑은 고딕"/>
              </a:rPr>
              <a:t>.</a:t>
            </a:r>
            <a:endParaRPr lang="en-US" altLang="ko-KR" sz="1500">
              <a:solidFill>
                <a:schemeClr val="tx1">
                  <a:alpha val="80000"/>
                </a:schemeClr>
              </a:solidFill>
              <a:latin typeface="Trebuchet MS"/>
              <a:ea typeface="맑은 고딕"/>
            </a:endParaRPr>
          </a:p>
          <a:p>
            <a:pPr>
              <a:lnSpc>
                <a:spcPct val="200000"/>
              </a:lnSpc>
              <a:defRPr/>
            </a:pPr>
            <a:r>
              <a:rPr lang="en-US" altLang="ko-KR" sz="1500">
                <a:solidFill>
                  <a:schemeClr val="tx1">
                    <a:alpha val="80000"/>
                  </a:schemeClr>
                </a:solidFill>
                <a:latin typeface="Trebuchet MS"/>
                <a:ea typeface="맑은 고딕"/>
              </a:rPr>
              <a:t>10.</a:t>
            </a:r>
            <a:r>
              <a:rPr lang="ko-KR" altLang="en-US" sz="1500">
                <a:solidFill>
                  <a:schemeClr val="tx1">
                    <a:alpha val="80000"/>
                  </a:schemeClr>
                </a:solidFill>
                <a:latin typeface="Trebuchet MS"/>
                <a:ea typeface="맑은 고딕"/>
              </a:rPr>
              <a:t> 서버와 클라이언트 간 통신 시</a:t>
            </a:r>
            <a:r>
              <a:rPr lang="en-US" altLang="ko-KR" sz="1500">
                <a:solidFill>
                  <a:schemeClr val="tx1">
                    <a:alpha val="80000"/>
                  </a:schemeClr>
                </a:solidFill>
                <a:latin typeface="Trebuchet MS"/>
                <a:ea typeface="맑은 고딕"/>
              </a:rPr>
              <a:t>,</a:t>
            </a:r>
            <a:r>
              <a:rPr lang="ko-KR" altLang="en-US" sz="1500">
                <a:solidFill>
                  <a:schemeClr val="tx1">
                    <a:alpha val="80000"/>
                  </a:schemeClr>
                </a:solidFill>
                <a:latin typeface="Trebuchet MS"/>
                <a:ea typeface="맑은 고딕"/>
              </a:rPr>
              <a:t> 시간차를 두어서 </a:t>
            </a:r>
            <a:r>
              <a:rPr lang="en-US" altLang="ko-KR" sz="1500">
                <a:solidFill>
                  <a:schemeClr val="tx1">
                    <a:alpha val="80000"/>
                  </a:schemeClr>
                </a:solidFill>
                <a:latin typeface="Trebuchet MS"/>
                <a:ea typeface="맑은 고딕"/>
              </a:rPr>
              <a:t>Race Condition</a:t>
            </a:r>
            <a:r>
              <a:rPr lang="ko-KR" altLang="en-US" sz="1500">
                <a:solidFill>
                  <a:schemeClr val="tx1">
                    <a:alpha val="80000"/>
                  </a:schemeClr>
                </a:solidFill>
                <a:latin typeface="Trebuchet MS"/>
                <a:ea typeface="맑은 고딕"/>
              </a:rPr>
              <a:t>을 예방한다</a:t>
            </a:r>
            <a:r>
              <a:rPr lang="en-US" altLang="ko-KR" sz="1500">
                <a:solidFill>
                  <a:schemeClr val="tx1">
                    <a:alpha val="80000"/>
                  </a:schemeClr>
                </a:solidFill>
                <a:latin typeface="Trebuchet MS"/>
                <a:ea typeface="맑은 고딕"/>
              </a:rPr>
              <a:t>.</a:t>
            </a:r>
            <a:endParaRPr lang="en-US" altLang="ko-KR" sz="1500">
              <a:solidFill>
                <a:schemeClr val="tx1">
                  <a:alpha val="80000"/>
                </a:schemeClr>
              </a:solidFill>
              <a:latin typeface="Trebuchet MS"/>
              <a:ea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JAY DESIGN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85000"/>
          </a:schemeClr>
        </a:solidFill>
        <a:ln>
          <a:noFill/>
        </a:ln>
      </a:spPr>
      <a:bodyPr lIns="0" tIns="0" rIns="0" bIns="0" rtlCol="0" anchor="ctr"/>
      <a:lstStyle>
        <a:defPPr algn="ctr">
          <a:defRPr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>
        <a:spAutoFit/>
      </a:bodyPr>
      <a:lstStyle>
        <a:defPPr algn="l">
          <a:lnSpc>
            <a:spcPct val="200000"/>
          </a:lnSpc>
          <a:defRPr sz="1600" dirty="0">
            <a:solidFill>
              <a:schemeClr val="tx1">
                <a:alpha val="80000"/>
              </a:schemeClr>
            </a:solidFill>
            <a:latin typeface="Trebuchet MS"/>
            <a:ea typeface="맑은 고딕"/>
          </a:defRPr>
        </a:defPPr>
      </a:lstStyle>
    </a:txDef>
  </a:objectDefaul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258</ep:Words>
  <ep:PresentationFormat>와이드스크린</ep:PresentationFormat>
  <ep:Paragraphs>29</ep:Paragraphs>
  <ep:Slides>4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ep:HeadingPairs>
  <ep:TitlesOfParts>
    <vt:vector size="5" baseType="lpstr">
      <vt:lpstr>JAY DESIGN</vt:lpstr>
      <vt:lpstr>슬라이드 1</vt:lpstr>
      <vt:lpstr>슬라이드 2</vt:lpstr>
      <vt:lpstr>슬라이드 3</vt:lpstr>
      <vt:lpstr>슬라이드 4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2018-09-09T04:25:23.000</dcterms:created>
  <dc:creator>KIM JAYWON</dc:creator>
  <cp:lastModifiedBy>tnsgh</cp:lastModifiedBy>
  <dcterms:modified xsi:type="dcterms:W3CDTF">2021-05-10T13:20:43.827</dcterms:modified>
  <cp:revision>170</cp:revision>
  <dc:title>PowerPoint 프레젠테이션</dc:title>
  <cp:version/>
</cp:coreProperties>
</file>